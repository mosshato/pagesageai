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7"/>
    <p:sldId id="264" r:id="rId8"/>
    <p:sldId id="265" r:id="rId9"/>
    <p:sldId id="266" r:id="rId10"/>
    <p:sldId id="269" r:id="rId11"/>
    <p:sldId id="270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50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463040"/>
            <a:ext cx="4206240" cy="4206240"/>
          </a:xfrm>
          <a:prstGeom prst="ellipse">
            <a:avLst/>
          </a:prstGeom>
          <a:solidFill>
            <a:srgbClr val="EFA75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3291840"/>
            <a:ext cx="3291840" cy="329184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2743200"/>
            <a:ext cx="1463040" cy="146304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27413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FA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THESIS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653796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PageSageAI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1613916"/>
            <a:ext cx="7097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AI-powered STEM Teaching Assistant in a Virtual Classroom </a:t>
            </a:r>
            <a:r>
              <a:rPr lang="en-US" sz="1850" dirty="0" err="1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Enviroment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  ·   React + Vite   ·   Gemini AI   ·   RAG   ·   Manim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2514600"/>
            <a:ext cx="1554480" cy="1554480"/>
          </a:xfrm>
          <a:prstGeom prst="ellipse">
            <a:avLst/>
          </a:prstGeom>
          <a:solidFill>
            <a:srgbClr val="1C7293"/>
          </a:solidFill>
          <a:ln/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2855006"/>
            <a:ext cx="786384" cy="7863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11</a:t>
            </a:r>
            <a:endParaRPr lang="en-US" sz="950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04FAF376-9C09-BAAF-1BFD-7129369129FD}"/>
              </a:ext>
            </a:extLst>
          </p:cNvPr>
          <p:cNvSpPr txBox="1"/>
          <p:nvPr/>
        </p:nvSpPr>
        <p:spPr>
          <a:xfrm>
            <a:off x="544068" y="3575026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 xml:space="preserve">Student: </a:t>
            </a: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ro-RO" dirty="0" err="1">
                <a:solidFill>
                  <a:schemeClr val="bg1"/>
                </a:solidFill>
              </a:rPr>
              <a:t>ăbțan</a:t>
            </a:r>
            <a:r>
              <a:rPr lang="ro-RO" dirty="0">
                <a:solidFill>
                  <a:schemeClr val="bg1"/>
                </a:solidFill>
              </a:rPr>
              <a:t xml:space="preserve"> Gelu Alexandru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CasetăText 16">
            <a:extLst>
              <a:ext uri="{FF2B5EF4-FFF2-40B4-BE49-F238E27FC236}">
                <a16:creationId xmlns:a16="http://schemas.microsoft.com/office/drawing/2014/main" id="{2C24ADE6-80C5-303F-63B6-CBCC39E76398}"/>
              </a:ext>
            </a:extLst>
          </p:cNvPr>
          <p:cNvSpPr txBox="1"/>
          <p:nvPr/>
        </p:nvSpPr>
        <p:spPr>
          <a:xfrm>
            <a:off x="515389" y="3867912"/>
            <a:ext cx="4113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err="1">
                <a:solidFill>
                  <a:schemeClr val="bg1"/>
                </a:solidFill>
              </a:rPr>
              <a:t>Coordinator</a:t>
            </a:r>
            <a:r>
              <a:rPr lang="ro-RO" dirty="0">
                <a:solidFill>
                  <a:schemeClr val="bg1"/>
                </a:solidFill>
              </a:rPr>
              <a:t>: Spătaru Florin-Adrian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PageSageAI, Why Now?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rapid growth is fueling demand for AI assistants that can teach a full course end-to-end — but nothing on the market packages that experience this way yet.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542032"/>
            <a:ext cx="365760" cy="36576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33472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487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tutors — answer questions, but don't teach a course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319272"/>
            <a:ext cx="365760" cy="36576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071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2644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generators — one-way content, no follow-up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4096512"/>
            <a:ext cx="365760" cy="36576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8795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0416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apps — audio only, no interactivity or testing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09160" y="18745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16223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98348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FA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PAGESAGEAI DOES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983480" y="246888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551176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68112" y="241401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narrates the course material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983480" y="307238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154680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68112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concepts through generated video clips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983480" y="367588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758184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68112" y="362102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instantly, grounded in the content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983480" y="427939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4361688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468112" y="42245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understanding with AI-generated quizzes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48740" y="178308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08" y="19842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Learning process at Scale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4088" y="350215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quality of individual tutoring to large numbers of students at the same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4700" y="141732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60520" y="1783080"/>
            <a:ext cx="822960" cy="822960"/>
          </a:xfrm>
          <a:prstGeom prst="ellipse">
            <a:avLst/>
          </a:prstGeom>
          <a:solidFill>
            <a:srgbClr val="EFA75B"/>
          </a:solidFill>
          <a:ln/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9842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758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Interactivity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15868" y="350215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engage with the material directly — asking, answering, and exploring, not just consuming.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972300" y="1783080"/>
            <a:ext cx="822960" cy="822960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468" y="19842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Made Visual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327648" y="350215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STEM concepts explained through short, AI-generated video clips.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Teach, Ask, See — One Classroom</a:t>
            </a:r>
            <a:endParaRPr lang="en-US" sz="3000" dirty="0"/>
          </a:p>
        </p:txBody>
      </p:sp>
      <p:sp>
        <p:nvSpPr>
          <p:cNvPr id="4" name="Card4"/>
          <p:cNvSpPr/>
          <p:nvPr/>
        </p:nvSpPr>
        <p:spPr>
          <a:xfrm>
            <a:off x="411480" y="1271016"/>
            <a:ext cx="3931920" cy="168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IconCircle5"/>
          <p:cNvSpPr/>
          <p:nvPr/>
        </p:nvSpPr>
        <p:spPr>
          <a:xfrm>
            <a:off x="501480" y="1351016"/>
            <a:ext cx="460000" cy="460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conImg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80" y="1464516"/>
            <a:ext cx="233000" cy="233000"/>
          </a:xfrm>
          <a:prstGeom prst="rect">
            <a:avLst/>
          </a:prstGeom>
        </p:spPr>
      </p:pic>
      <p:sp>
        <p:nvSpPr>
          <p:cNvPr id="7" name="Header7"/>
          <p:cNvSpPr/>
          <p:nvPr/>
        </p:nvSpPr>
        <p:spPr>
          <a:xfrm>
            <a:off x="1051480" y="1351016"/>
            <a:ext cx="32019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Classroom</a:t>
            </a:r>
            <a:endParaRPr lang="en-US" sz="1200" dirty="0"/>
          </a:p>
        </p:txBody>
      </p:sp>
      <p:sp>
        <p:nvSpPr>
          <p:cNvPr id="8" name="Desc8"/>
          <p:cNvSpPr/>
          <p:nvPr/>
        </p:nvSpPr>
        <p:spPr>
          <a:xfrm>
            <a:off x="501480" y="1881016"/>
            <a:ext cx="3751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space to meet online: organize classes, share announcements, and assign work.</a:t>
            </a:r>
            <a:endParaRPr lang="en-US" sz="900" dirty="0"/>
          </a:p>
        </p:txBody>
      </p:sp>
      <p:sp>
        <p:nvSpPr>
          <p:cNvPr id="9" name="Dot9"/>
          <p:cNvSpPr/>
          <p:nvPr/>
        </p:nvSpPr>
        <p:spPr>
          <a:xfrm>
            <a:off x="501480" y="2271016"/>
            <a:ext cx="90000" cy="9000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BulletText10"/>
          <p:cNvSpPr/>
          <p:nvPr/>
        </p:nvSpPr>
        <p:spPr>
          <a:xfrm>
            <a:off x="661480" y="2221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&amp; course material</a:t>
            </a:r>
            <a:endParaRPr lang="en-US" sz="800" dirty="0"/>
          </a:p>
        </p:txBody>
      </p:sp>
      <p:sp>
        <p:nvSpPr>
          <p:cNvPr id="11" name="Dot11"/>
          <p:cNvSpPr/>
          <p:nvPr/>
        </p:nvSpPr>
        <p:spPr>
          <a:xfrm>
            <a:off x="501480" y="2491016"/>
            <a:ext cx="90000" cy="9000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BulletText12"/>
          <p:cNvSpPr/>
          <p:nvPr/>
        </p:nvSpPr>
        <p:spPr>
          <a:xfrm>
            <a:off x="661480" y="2441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— posted and submitted</a:t>
            </a:r>
            <a:endParaRPr lang="en-US" sz="800" dirty="0"/>
          </a:p>
        </p:txBody>
      </p:sp>
      <p:sp>
        <p:nvSpPr>
          <p:cNvPr id="13" name="Dot13"/>
          <p:cNvSpPr/>
          <p:nvPr/>
        </p:nvSpPr>
        <p:spPr>
          <a:xfrm>
            <a:off x="501480" y="2711016"/>
            <a:ext cx="90000" cy="9000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ulletText14"/>
          <p:cNvSpPr/>
          <p:nvPr/>
        </p:nvSpPr>
        <p:spPr>
          <a:xfrm>
            <a:off x="661480" y="2661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courses, organized by class</a:t>
            </a:r>
            <a:endParaRPr lang="en-US" sz="800" dirty="0"/>
          </a:p>
        </p:txBody>
      </p:sp>
      <p:sp>
        <p:nvSpPr>
          <p:cNvPr id="15" name="Card15"/>
          <p:cNvSpPr/>
          <p:nvPr/>
        </p:nvSpPr>
        <p:spPr>
          <a:xfrm>
            <a:off x="4709160" y="1271016"/>
            <a:ext cx="3931920" cy="1689000"/>
          </a:xfrm>
          <a:prstGeom prst="roundRect">
            <a:avLst>
              <a:gd name="adj" fmla="val 2133"/>
            </a:avLst>
          </a:prstGeom>
          <a:solidFill>
            <a:srgbClr val="16223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IconCircle16"/>
          <p:cNvSpPr/>
          <p:nvPr/>
        </p:nvSpPr>
        <p:spPr>
          <a:xfrm>
            <a:off x="4799160" y="1351016"/>
            <a:ext cx="460000" cy="46000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conImg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660" y="1464516"/>
            <a:ext cx="233000" cy="233000"/>
          </a:xfrm>
          <a:prstGeom prst="rect">
            <a:avLst/>
          </a:prstGeom>
        </p:spPr>
      </p:pic>
      <p:sp>
        <p:nvSpPr>
          <p:cNvPr id="18" name="Header18"/>
          <p:cNvSpPr/>
          <p:nvPr/>
        </p:nvSpPr>
        <p:spPr>
          <a:xfrm>
            <a:off x="5349160" y="1351016"/>
            <a:ext cx="32019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End-to-End by Voice AI</a:t>
            </a:r>
            <a:endParaRPr lang="en-US" sz="1200" dirty="0"/>
          </a:p>
        </p:txBody>
      </p:sp>
      <p:sp>
        <p:nvSpPr>
          <p:cNvPr id="19" name="Desc19"/>
          <p:cNvSpPr/>
          <p:nvPr/>
        </p:nvSpPr>
        <p:spPr>
          <a:xfrm>
            <a:off x="4799160" y="1881016"/>
            <a:ext cx="3751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AI assistant narrates and teaches a course page by page, start to finish.</a:t>
            </a:r>
            <a:endParaRPr lang="en-US" sz="900" dirty="0"/>
          </a:p>
        </p:txBody>
      </p:sp>
      <p:sp>
        <p:nvSpPr>
          <p:cNvPr id="20" name="Dot20"/>
          <p:cNvSpPr/>
          <p:nvPr/>
        </p:nvSpPr>
        <p:spPr>
          <a:xfrm>
            <a:off x="4799160" y="2271016"/>
            <a:ext cx="90000" cy="90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BulletText21"/>
          <p:cNvSpPr/>
          <p:nvPr/>
        </p:nvSpPr>
        <p:spPr>
          <a:xfrm>
            <a:off x="4959160" y="2221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Page-by-page narration</a:t>
            </a:r>
            <a:endParaRPr lang="en-US" sz="800" dirty="0"/>
          </a:p>
        </p:txBody>
      </p:sp>
      <p:sp>
        <p:nvSpPr>
          <p:cNvPr id="22" name="Dot22"/>
          <p:cNvSpPr/>
          <p:nvPr/>
        </p:nvSpPr>
        <p:spPr>
          <a:xfrm>
            <a:off x="4799160" y="2491016"/>
            <a:ext cx="90000" cy="90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ulletText23"/>
          <p:cNvSpPr/>
          <p:nvPr/>
        </p:nvSpPr>
        <p:spPr>
          <a:xfrm>
            <a:off x="4959160" y="2441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 Deepgram TTS</a:t>
            </a:r>
            <a:endParaRPr lang="en-US" sz="800" dirty="0"/>
          </a:p>
        </p:txBody>
      </p:sp>
      <p:sp>
        <p:nvSpPr>
          <p:cNvPr id="24" name="Dot24"/>
          <p:cNvSpPr/>
          <p:nvPr/>
        </p:nvSpPr>
        <p:spPr>
          <a:xfrm>
            <a:off x="4799160" y="2711016"/>
            <a:ext cx="90000" cy="90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BulletText25"/>
          <p:cNvSpPr/>
          <p:nvPr/>
        </p:nvSpPr>
        <p:spPr>
          <a:xfrm>
            <a:off x="4959160" y="2661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instructor required</a:t>
            </a:r>
            <a:endParaRPr lang="en-US" sz="800" dirty="0"/>
          </a:p>
        </p:txBody>
      </p:sp>
      <p:sp>
        <p:nvSpPr>
          <p:cNvPr id="26" name="Card26"/>
          <p:cNvSpPr/>
          <p:nvPr/>
        </p:nvSpPr>
        <p:spPr>
          <a:xfrm>
            <a:off x="411480" y="3060016"/>
            <a:ext cx="3931920" cy="168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IconCircle27"/>
          <p:cNvSpPr/>
          <p:nvPr/>
        </p:nvSpPr>
        <p:spPr>
          <a:xfrm>
            <a:off x="501480" y="3140016"/>
            <a:ext cx="460000" cy="460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conImg2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80" y="3253516"/>
            <a:ext cx="233000" cy="233000"/>
          </a:xfrm>
          <a:prstGeom prst="rect">
            <a:avLst/>
          </a:prstGeom>
        </p:spPr>
      </p:pic>
      <p:sp>
        <p:nvSpPr>
          <p:cNvPr id="29" name="Header29"/>
          <p:cNvSpPr/>
          <p:nvPr/>
        </p:nvSpPr>
        <p:spPr>
          <a:xfrm>
            <a:off x="1051480" y="3140016"/>
            <a:ext cx="32019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Q&amp;A, Instant Answers</a:t>
            </a:r>
            <a:endParaRPr lang="en-US" sz="1200" dirty="0"/>
          </a:p>
        </p:txBody>
      </p:sp>
      <p:sp>
        <p:nvSpPr>
          <p:cNvPr id="30" name="Desc30"/>
          <p:cNvSpPr/>
          <p:nvPr/>
        </p:nvSpPr>
        <p:spPr>
          <a:xfrm>
            <a:off x="501480" y="3670016"/>
            <a:ext cx="3751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while studying and get an instant answer grounded in the course material.</a:t>
            </a:r>
            <a:endParaRPr lang="en-US" sz="900" dirty="0"/>
          </a:p>
        </p:txBody>
      </p:sp>
      <p:sp>
        <p:nvSpPr>
          <p:cNvPr id="31" name="Dot31"/>
          <p:cNvSpPr/>
          <p:nvPr/>
        </p:nvSpPr>
        <p:spPr>
          <a:xfrm>
            <a:off x="501480" y="4060016"/>
            <a:ext cx="90000" cy="9000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BulletText32"/>
          <p:cNvSpPr/>
          <p:nvPr/>
        </p:nvSpPr>
        <p:spPr>
          <a:xfrm>
            <a:off x="661480" y="4010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(RAG) answers</a:t>
            </a:r>
            <a:endParaRPr lang="en-US" sz="800" dirty="0"/>
          </a:p>
        </p:txBody>
      </p:sp>
      <p:sp>
        <p:nvSpPr>
          <p:cNvPr id="33" name="Dot33"/>
          <p:cNvSpPr/>
          <p:nvPr/>
        </p:nvSpPr>
        <p:spPr>
          <a:xfrm>
            <a:off x="501480" y="4280016"/>
            <a:ext cx="90000" cy="9000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BulletText34"/>
          <p:cNvSpPr/>
          <p:nvPr/>
        </p:nvSpPr>
        <p:spPr>
          <a:xfrm>
            <a:off x="661480" y="4230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to the current page</a:t>
            </a:r>
            <a:endParaRPr lang="en-US" sz="800" dirty="0"/>
          </a:p>
        </p:txBody>
      </p:sp>
      <p:sp>
        <p:nvSpPr>
          <p:cNvPr id="35" name="Dot35"/>
          <p:cNvSpPr/>
          <p:nvPr/>
        </p:nvSpPr>
        <p:spPr>
          <a:xfrm>
            <a:off x="501480" y="4500016"/>
            <a:ext cx="90000" cy="9000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BulletText36"/>
          <p:cNvSpPr/>
          <p:nvPr/>
        </p:nvSpPr>
        <p:spPr>
          <a:xfrm>
            <a:off x="661480" y="4450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while reading or listening</a:t>
            </a:r>
            <a:endParaRPr lang="en-US" sz="800" dirty="0"/>
          </a:p>
        </p:txBody>
      </p:sp>
      <p:sp>
        <p:nvSpPr>
          <p:cNvPr id="37" name="Card37"/>
          <p:cNvSpPr/>
          <p:nvPr/>
        </p:nvSpPr>
        <p:spPr>
          <a:xfrm>
            <a:off x="4709160" y="3060016"/>
            <a:ext cx="3931920" cy="1689000"/>
          </a:xfrm>
          <a:prstGeom prst="roundRect">
            <a:avLst>
              <a:gd name="adj" fmla="val 2133"/>
            </a:avLst>
          </a:prstGeom>
          <a:solidFill>
            <a:srgbClr val="16223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IconCircle38"/>
          <p:cNvSpPr/>
          <p:nvPr/>
        </p:nvSpPr>
        <p:spPr>
          <a:xfrm>
            <a:off x="4799160" y="3140016"/>
            <a:ext cx="460000" cy="46000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conImg3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2660" y="3253516"/>
            <a:ext cx="233000" cy="233000"/>
          </a:xfrm>
          <a:prstGeom prst="rect">
            <a:avLst/>
          </a:prstGeom>
        </p:spPr>
      </p:pic>
      <p:sp>
        <p:nvSpPr>
          <p:cNvPr id="40" name="Header40"/>
          <p:cNvSpPr/>
          <p:nvPr/>
        </p:nvSpPr>
        <p:spPr>
          <a:xfrm>
            <a:off x="5349160" y="3140016"/>
            <a:ext cx="32019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Concept Clips</a:t>
            </a:r>
            <a:endParaRPr lang="en-US" sz="1200" dirty="0"/>
          </a:p>
        </p:txBody>
      </p:sp>
      <p:sp>
        <p:nvSpPr>
          <p:cNvPr id="41" name="Desc41"/>
          <p:cNvSpPr/>
          <p:nvPr/>
        </p:nvSpPr>
        <p:spPr>
          <a:xfrm>
            <a:off x="4799160" y="3670016"/>
            <a:ext cx="3751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short Manim animation for any concept to see it explained visually, instantly.</a:t>
            </a:r>
            <a:endParaRPr lang="en-US" sz="900" dirty="0"/>
          </a:p>
        </p:txBody>
      </p:sp>
      <p:sp>
        <p:nvSpPr>
          <p:cNvPr id="42" name="Dot42"/>
          <p:cNvSpPr/>
          <p:nvPr/>
        </p:nvSpPr>
        <p:spPr>
          <a:xfrm>
            <a:off x="4799160" y="4060016"/>
            <a:ext cx="90000" cy="90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BulletText43"/>
          <p:cNvSpPr/>
          <p:nvPr/>
        </p:nvSpPr>
        <p:spPr>
          <a:xfrm>
            <a:off x="4959160" y="4010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animation code</a:t>
            </a:r>
            <a:endParaRPr lang="en-US" sz="800" dirty="0"/>
          </a:p>
        </p:txBody>
      </p:sp>
      <p:sp>
        <p:nvSpPr>
          <p:cNvPr id="44" name="Dot44"/>
          <p:cNvSpPr/>
          <p:nvPr/>
        </p:nvSpPr>
        <p:spPr>
          <a:xfrm>
            <a:off x="4799160" y="4280016"/>
            <a:ext cx="90000" cy="90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BulletText45"/>
          <p:cNvSpPr/>
          <p:nvPr/>
        </p:nvSpPr>
        <p:spPr>
          <a:xfrm>
            <a:off x="4959160" y="4230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automatically server-side</a:t>
            </a:r>
            <a:endParaRPr lang="en-US" sz="800" dirty="0"/>
          </a:p>
        </p:txBody>
      </p:sp>
      <p:sp>
        <p:nvSpPr>
          <p:cNvPr id="46" name="Dot46"/>
          <p:cNvSpPr/>
          <p:nvPr/>
        </p:nvSpPr>
        <p:spPr>
          <a:xfrm>
            <a:off x="4799160" y="4500016"/>
            <a:ext cx="90000" cy="90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BulletText47"/>
          <p:cNvSpPr/>
          <p:nvPr/>
        </p:nvSpPr>
        <p:spPr>
          <a:xfrm>
            <a:off x="4959160" y="4450016"/>
            <a:ext cx="35919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instantly once generated</a:t>
            </a:r>
            <a:endParaRPr lang="en-US" sz="800" dirty="0"/>
          </a:p>
        </p:txBody>
      </p:sp>
      <p:sp>
        <p:nvSpPr>
          <p:cNvPr id="49" name="Text 22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50" name="Text 23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5453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71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(Client)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UI for students &amp; teachers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08483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2340864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6223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31520" y="245973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258775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414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(Backend / API)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270662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· business logic · auth · AI pipeline orchestration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3127248"/>
            <a:ext cx="201168" cy="201168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127248"/>
            <a:ext cx="201168" cy="20116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02920" y="3383280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731520" y="3584448"/>
            <a:ext cx="530352" cy="53035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721608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17320" y="3547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141732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(relational) + ChromaDB (vector store for RAG)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709160" y="3383280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4937760" y="3584448"/>
            <a:ext cx="530352" cy="530352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721608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623560" y="3547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AI Services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562356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(LLM) · Deepgram (TTS) · Manim (rendering)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28" name="Text 19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Course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uploaded by a teacher → 4 idempotent steps run on a daemon thread → students browse narrated pages and ask RAG questions.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5860" y="21031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240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788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0540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PNGs + JSON (ingest_pdf)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264718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24328" y="192024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41548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708" y="22402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2788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715768" y="30540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text generated per page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64718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0016" y="192024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5317236" y="2103120"/>
            <a:ext cx="548640" cy="54864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96" y="224028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73168" y="2788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791456" y="30540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audio files (Deepgram)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64718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75704" y="192024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392924" y="21031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4" y="224028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48856" y="2788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867144" y="30540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indexed into ChromaDB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Animations (Manim)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student requests it, a daemon thread generates an explanatory Manim animation for a concept — with automatic retries on failure.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5860" y="208483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221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the Manim code (ConceptScene)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257860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24328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41548" y="20848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708" y="22219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scene.py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697480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media/animations/anim_{id}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57860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0016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5317236" y="2084832"/>
            <a:ext cx="548640" cy="54864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96" y="222199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73168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RENDERING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773168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manim -ql, subprocess, 180s timeout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57860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75704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392924" y="208483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4" y="2221992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48856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READY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6848856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.mp4 file found and saved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7" name="Text 26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Quiz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triggers quiz generation for an AI course — Gemini produces questions based on existing narrations.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5860" y="208483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221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text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narrations, max 40,000 characters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257860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24328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41548" y="20848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708" y="22219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2697480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→ 20 MCQ questions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57860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0016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5317236" y="2084832"/>
            <a:ext cx="548640" cy="548640"/>
          </a:xfrm>
          <a:prstGeom prst="ellipse">
            <a:avLst/>
          </a:prstGeom>
          <a:solidFill>
            <a:srgbClr val="EFA7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96" y="222199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73168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773168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options + valid correct_index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57860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75704" y="192024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392924" y="208483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4" y="2221992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48856" y="2761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6848856" y="29992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Quiz.questions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548640" y="3886200"/>
            <a:ext cx="8092440" cy="777240"/>
          </a:xfrm>
          <a:prstGeom prst="roundRect">
            <a:avLst>
              <a:gd name="adj" fmla="val 9412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0"/>
          <p:cNvSpPr/>
          <p:nvPr/>
        </p:nvSpPr>
        <p:spPr>
          <a:xfrm>
            <a:off x="749808" y="405079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" y="4142232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280160" y="39776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is a OneToOneField to AICourse. Students submit answers via QuizAttempt — the score is computed server-side and visible to the teacher per student.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EVALUATION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to Perform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48740" y="178308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908" y="19842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4088" y="350215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 latency tests pass — every endpoint under 400 ms (bcrypt-heavy login/signup under 2 s).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4700" y="141732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60520" y="1783080"/>
            <a:ext cx="822960" cy="822960"/>
          </a:xfrm>
          <a:prstGeom prst="ellipse">
            <a:avLst/>
          </a:prstGeom>
          <a:solidFill>
            <a:srgbClr val="EFA75B"/>
          </a:solidFill>
          <a:ln/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9842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758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15868" y="350215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 security tests pass — auth, ownership isolation, role separation, and password hashing all enforced.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972300" y="1783080"/>
            <a:ext cx="822960" cy="822960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468" y="19842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327648" y="350215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concurrent users, 495 requests, only 2% failures — server stable; RAG calls bound by external Gemini latency.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EVALUATION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Against NotebookLM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20-participant pilot study compared PageSageAI to NotebookLM on identical material, using validated cognitive-load and technology-acceptance instruments.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(n = 10)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542032"/>
            <a:ext cx="365760" cy="36576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33472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487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Extraneous Load (ECL): 3.90 / 5 — higher means worse presentation clarity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319272"/>
            <a:ext cx="365760" cy="36576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1071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2644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Germane Learning (GCL): 1.40 / 5 — minimal reported concept understanding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4096512"/>
            <a:ext cx="365760" cy="36576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8795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0416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Acceptance (TAM): 2.10 / 5 — below the scale midpoint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09160" y="18745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16223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98348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FA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 (n = 10)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983480" y="254203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263347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68112" y="24871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Extraneous Load (ECL): 2.60 / 5 — lower is better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983480" y="331927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341071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68112" y="32644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Germane Learning (GCL): 3.70 / 5 — clearer concept understanding reported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983480" y="409651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4187952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68112" y="4041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Acceptance (TAM): 4.00 / 5 — broadly positive acceptance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C7293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108960"/>
            <a:ext cx="3291840" cy="3291840"/>
          </a:xfrm>
          <a:prstGeom prst="ellipse">
            <a:avLst/>
          </a:prstGeom>
          <a:solidFill>
            <a:srgbClr val="EFA75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EFA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F2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teaching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2761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loop: read, narrate, watch, ask, test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15087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F2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39312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18745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learning, at scale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39312" y="2761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individual-tutoring quality for many students at once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2784" y="15087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F2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501384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187452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01384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made visual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501384" y="2761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Manim clips for any concept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54864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572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PageSageAI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7818120" y="4864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903</Words>
  <Application>Microsoft Office PowerPoint</Application>
  <PresentationFormat>Expunere pe ecran (16:9)</PresentationFormat>
  <Paragraphs>156</Paragraphs>
  <Slides>12</Slides>
  <Notes>10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PageSageAI — AI Educational Platform</dc:title>
  <dc:subject>PptxGenJS Presentation</dc:subject>
  <dc:creator>PageSageAI</dc:creator>
  <cp:lastModifiedBy>Gelu Babtan</cp:lastModifiedBy>
  <cp:revision>6</cp:revision>
  <dcterms:created xsi:type="dcterms:W3CDTF">2026-06-18T08:59:52Z</dcterms:created>
  <dcterms:modified xsi:type="dcterms:W3CDTF">2026-07-06T15:37:13Z</dcterms:modified>
</cp:coreProperties>
</file>