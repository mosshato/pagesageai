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-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650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7.png"/><Relationship Id="rId4" Type="http://schemas.openxmlformats.org/officeDocument/2006/relationships/image" Target="../media/image12.png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463040"/>
            <a:ext cx="4206240" cy="4206240"/>
          </a:xfrm>
          <a:prstGeom prst="ellipse">
            <a:avLst/>
          </a:prstGeom>
          <a:solidFill>
            <a:srgbClr val="EFA75B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645920" y="3291840"/>
            <a:ext cx="3291840" cy="329184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63840" y="2743200"/>
            <a:ext cx="1463040" cy="146304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FA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BACHELOR'S THESIS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" y="128016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PageSageAI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70976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C9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STEM Teaching Assistant in a Virtual Classroom </a:t>
            </a:r>
            <a:r>
              <a:rPr lang="en-US" sz="1850" dirty="0" err="1">
                <a:solidFill>
                  <a:srgbClr val="C9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Enviroment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  ·   React + Vite   ·   Gemini AI   ·   RAG   ·   Manim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78040" y="1371600"/>
            <a:ext cx="1554480" cy="1554480"/>
          </a:xfrm>
          <a:prstGeom prst="ellipse">
            <a:avLst/>
          </a:prstGeom>
          <a:solidFill>
            <a:srgbClr val="1C7293"/>
          </a:solidFill>
          <a:ln/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088" y="1755648"/>
            <a:ext cx="786384" cy="7863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PageSageAI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818120" y="48646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13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PageSageAI, Why Now?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AI's rapid growth is fueling demand for AI assistants that can teach a full course end-to-end — but nothing on the market packages that experience this way yet.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9319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TODAY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2542032"/>
            <a:ext cx="365760" cy="365760"/>
          </a:xfrm>
          <a:prstGeom prst="ellipse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33472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48716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tutors — answer questions, but don't teach a course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" y="3319272"/>
            <a:ext cx="365760" cy="365760"/>
          </a:xfrm>
          <a:prstGeom prst="ellipse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10712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326440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generators — one-way content, no follow-up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7240" y="4096512"/>
            <a:ext cx="365760" cy="365760"/>
          </a:xfrm>
          <a:prstGeom prst="ellipse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87952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40416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 apps — audio only, no interactivity or testing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709160" y="1874520"/>
            <a:ext cx="3931920" cy="3063240"/>
          </a:xfrm>
          <a:prstGeom prst="roundRect">
            <a:avLst>
              <a:gd name="adj" fmla="val 2388"/>
            </a:avLst>
          </a:prstGeom>
          <a:solidFill>
            <a:srgbClr val="16223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4983480" y="2057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FA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PAGESAGEAI DOES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983480" y="246888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2551176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68112" y="241401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&amp; narrates the course material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983480" y="3072384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3154680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68112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concepts through generated video clips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4983480" y="3675888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3758184"/>
            <a:ext cx="182880" cy="1828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68112" y="362102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questions instantly, grounded in the content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4983480" y="4279392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4361688"/>
            <a:ext cx="182880" cy="18288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468112" y="422452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understanding with AI-generated quizzes</a:t>
            </a:r>
            <a:endParaRPr lang="en-US" sz="1150" dirty="0"/>
          </a:p>
        </p:txBody>
      </p:sp>
      <p:sp>
        <p:nvSpPr>
          <p:cNvPr id="30" name="Text 21"/>
          <p:cNvSpPr/>
          <p:nvPr/>
        </p:nvSpPr>
        <p:spPr>
          <a:xfrm>
            <a:off x="4572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PageSageAI</a:t>
            </a:r>
            <a:endParaRPr lang="en-US" sz="950" dirty="0"/>
          </a:p>
        </p:txBody>
      </p:sp>
      <p:sp>
        <p:nvSpPr>
          <p:cNvPr id="31" name="Text 22"/>
          <p:cNvSpPr/>
          <p:nvPr/>
        </p:nvSpPr>
        <p:spPr>
          <a:xfrm>
            <a:off x="7818120" y="48646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13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514600" cy="33375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48740" y="1783080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908" y="198424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346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Make Learning process at Scale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04088" y="3502152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quality of individual tutoring to large numbers of students at the same time.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14700" y="1417320"/>
            <a:ext cx="2514600" cy="33375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160520" y="1783080"/>
            <a:ext cx="822960" cy="822960"/>
          </a:xfrm>
          <a:prstGeom prst="ellipse">
            <a:avLst/>
          </a:prstGeom>
          <a:solidFill>
            <a:srgbClr val="EFA75B"/>
          </a:solidFill>
          <a:ln/>
          <a:effectLst>
            <a:outerShdw blurRad="762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198424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7580" y="28346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Interactivity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515868" y="3502152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engage with the material directly — asking, answering, and exploring, not just consuming.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26480" y="1417320"/>
            <a:ext cx="2514600" cy="33375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972300" y="1783080"/>
            <a:ext cx="822960" cy="822960"/>
          </a:xfrm>
          <a:prstGeom prst="ellipse">
            <a:avLst/>
          </a:prstGeom>
          <a:solidFill>
            <a:srgbClr val="1B2A4A"/>
          </a:solidFill>
          <a:ln/>
          <a:effectLst>
            <a:outerShdw blurRad="762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3468" y="198424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8346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Made Visual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327648" y="3502152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STEM concepts explained through short, AI-generated video clips.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PageSageAI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7818120" y="48646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Virtual Classroom, </a:t>
            </a:r>
            <a:r>
              <a:rPr lang="en-US" sz="3000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Teached</a:t>
            </a: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by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71016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1792224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6276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Classroom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95528" y="2542032"/>
            <a:ext cx="3346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space to meet online: organize classes, share announcements, and assign work.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95528" y="3328416"/>
            <a:ext cx="118872" cy="118872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33272" y="32186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 &amp; course material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95528" y="3712464"/>
            <a:ext cx="118872" cy="118872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33272" y="36027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— posted and submitted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95528" y="4096512"/>
            <a:ext cx="118872" cy="118872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33272" y="39867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courses, organized by class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709160" y="1325880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16223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983480" y="1600200"/>
            <a:ext cx="777240" cy="777240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504" y="1792224"/>
            <a:ext cx="393192" cy="39319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943600" y="16276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Taught End-to-End by Voice AI</a:t>
            </a:r>
            <a:endParaRPr lang="en-US" sz="1650" dirty="0"/>
          </a:p>
        </p:txBody>
      </p:sp>
      <p:sp>
        <p:nvSpPr>
          <p:cNvPr id="19" name="Text 15"/>
          <p:cNvSpPr/>
          <p:nvPr/>
        </p:nvSpPr>
        <p:spPr>
          <a:xfrm>
            <a:off x="5001768" y="2542032"/>
            <a:ext cx="3346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 AI assistant narrates and teaches a course page by page, start to finish.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01768" y="3328416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5239512" y="32186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Page-by-page narration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001768" y="3712464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239512" y="36027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with Deepgram TTS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001768" y="4096512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5239512" y="39867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instructor required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4572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PageSageAI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7818120" y="48646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Ask, Watch, Understand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1792224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6276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Q&amp;A, Instant Answers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95528" y="2542032"/>
            <a:ext cx="3346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while studying and get an instant answer grounded in the course material.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95528" y="3328416"/>
            <a:ext cx="118872" cy="118872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33272" y="32186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(RAG) answers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95528" y="3712464"/>
            <a:ext cx="118872" cy="118872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33272" y="36027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to the current page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95528" y="4096512"/>
            <a:ext cx="118872" cy="118872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33272" y="39867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while reading or listening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709160" y="1325880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16223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983480" y="1600200"/>
            <a:ext cx="777240" cy="777240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504" y="1792224"/>
            <a:ext cx="393192" cy="39319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943600" y="16276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Concept Clips</a:t>
            </a:r>
            <a:endParaRPr lang="en-US" sz="1650" dirty="0"/>
          </a:p>
        </p:txBody>
      </p:sp>
      <p:sp>
        <p:nvSpPr>
          <p:cNvPr id="19" name="Text 15"/>
          <p:cNvSpPr/>
          <p:nvPr/>
        </p:nvSpPr>
        <p:spPr>
          <a:xfrm>
            <a:off x="5001768" y="2542032"/>
            <a:ext cx="3346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short Manim animation for any concept to see it explained visually, instantly.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01768" y="3328416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5239512" y="32186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animation code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001768" y="3712464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239512" y="36027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automatically server-side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001768" y="4096512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5239512" y="39867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instantly once generated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4572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PageSageAI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7818120" y="48646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13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Architecture,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54533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371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(Client)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16642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UI for students &amp; teachers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2084832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2920" y="2340864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16223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31520" y="245973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258775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24140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(Backend / API)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417320" y="270662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· business logic · auth · AI pipeline orchestration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280" y="3127248"/>
            <a:ext cx="201168" cy="201168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3127248"/>
            <a:ext cx="201168" cy="201168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502920" y="3383280"/>
            <a:ext cx="3931920" cy="1207008"/>
          </a:xfrm>
          <a:prstGeom prst="roundRect">
            <a:avLst>
              <a:gd name="adj" fmla="val 6061"/>
            </a:avLst>
          </a:prstGeom>
          <a:solidFill>
            <a:srgbClr val="EA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1"/>
          <p:cNvSpPr/>
          <p:nvPr/>
        </p:nvSpPr>
        <p:spPr>
          <a:xfrm>
            <a:off x="731520" y="3584448"/>
            <a:ext cx="530352" cy="530352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721608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417320" y="35478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141732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(relational) + ChromaDB (vector store for RAG)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4709160" y="3383280"/>
            <a:ext cx="3931920" cy="1207008"/>
          </a:xfrm>
          <a:prstGeom prst="roundRect">
            <a:avLst>
              <a:gd name="adj" fmla="val 6061"/>
            </a:avLst>
          </a:prstGeom>
          <a:solidFill>
            <a:srgbClr val="EA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5"/>
          <p:cNvSpPr/>
          <p:nvPr/>
        </p:nvSpPr>
        <p:spPr>
          <a:xfrm>
            <a:off x="4937760" y="3584448"/>
            <a:ext cx="530352" cy="530352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3721608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623560" y="35478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AI Services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562356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(LLM) · Deepgram (TTS) · Manim (rendering)</a:t>
            </a:r>
            <a:endParaRPr lang="en-US" sz="1000" dirty="0"/>
          </a:p>
        </p:txBody>
      </p:sp>
      <p:sp>
        <p:nvSpPr>
          <p:cNvPr id="27" name="Text 18"/>
          <p:cNvSpPr/>
          <p:nvPr/>
        </p:nvSpPr>
        <p:spPr>
          <a:xfrm>
            <a:off x="4572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PageSageAI</a:t>
            </a:r>
            <a:endParaRPr lang="en-US" sz="950" dirty="0"/>
          </a:p>
        </p:txBody>
      </p:sp>
      <p:sp>
        <p:nvSpPr>
          <p:cNvPr id="28" name="Text 19"/>
          <p:cNvSpPr/>
          <p:nvPr/>
        </p:nvSpPr>
        <p:spPr>
          <a:xfrm>
            <a:off x="7818120" y="48646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13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9385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9576" y="1636776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7830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3317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94360" y="262432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backend API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606040" y="1417320"/>
            <a:ext cx="19385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82696" y="1636776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7830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97480" y="23317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697480" y="262432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709160" y="1417320"/>
            <a:ext cx="19385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385816" y="1636776"/>
            <a:ext cx="585216" cy="585216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178308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00600" y="23317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800600" y="262432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Student/teacher interface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812280" y="1417320"/>
            <a:ext cx="19385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488936" y="1636776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178308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23317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903720" y="262432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access · 1 day refresh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02920" y="3310128"/>
            <a:ext cx="19385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1179576" y="3529584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5880" y="3675888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94360" y="422452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94360" y="4517136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Narration, quiz, Manim code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2606040" y="3310128"/>
            <a:ext cx="19385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3282696" y="3529584"/>
            <a:ext cx="585216" cy="585216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3675888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697480" y="422452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2697480" y="4517136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for RAG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4709160" y="3310128"/>
            <a:ext cx="19385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5385816" y="3529584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2120" y="3675888"/>
            <a:ext cx="292608" cy="29260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800600" y="422452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Manim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4800600" y="4517136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animation rendering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6812280" y="3310128"/>
            <a:ext cx="19385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1"/>
          <p:cNvSpPr/>
          <p:nvPr/>
        </p:nvSpPr>
        <p:spPr>
          <a:xfrm>
            <a:off x="7488936" y="3529584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5240" y="3675888"/>
            <a:ext cx="292608" cy="29260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903720" y="422452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6903720" y="4517136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(TTS)</a:t>
            </a:r>
            <a:endParaRPr lang="en-US" sz="950" dirty="0"/>
          </a:p>
        </p:txBody>
      </p:sp>
      <p:sp>
        <p:nvSpPr>
          <p:cNvPr id="44" name="Text 34"/>
          <p:cNvSpPr/>
          <p:nvPr/>
        </p:nvSpPr>
        <p:spPr>
          <a:xfrm>
            <a:off x="4572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PageSageAI</a:t>
            </a:r>
            <a:endParaRPr lang="en-US" sz="950" dirty="0"/>
          </a:p>
        </p:txBody>
      </p:sp>
      <p:sp>
        <p:nvSpPr>
          <p:cNvPr id="45" name="Text 35"/>
          <p:cNvSpPr/>
          <p:nvPr/>
        </p:nvSpPr>
        <p:spPr>
          <a:xfrm>
            <a:off x="7818120" y="48646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13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Data Models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347472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 / Key Fields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User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6B7A99"/>
                          </a:solidFill>
                        </a:rPr>
                        <a:t>Email-based authentication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6B7A99"/>
                          </a:solidFill>
                        </a:rPr>
                        <a:t>role: student | teacher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Class · Enrollment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6B7A99"/>
                          </a:solidFill>
                        </a:rPr>
                        <a:t>Class organization and enrollment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6B7A99"/>
                          </a:solidFill>
                        </a:rPr>
                        <a:t>unique enrollment code per class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Assignment · Submission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6B7A99"/>
                          </a:solidFill>
                        </a:rPr>
                        <a:t>Assignments and submitted work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6B7A99"/>
                          </a:solidFill>
                        </a:rPr>
                        <a:t>denormalized status: pending → submitted → graded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AICourse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6B7A99"/>
                          </a:solidFill>
                        </a:rPr>
                        <a:t>AI course pipeline (PDF → lesson)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6B7A99"/>
                          </a:solidFill>
                        </a:rPr>
                        <a:t>status: PROCESSING → READY | ERROR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ConceptAnimation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6B7A99"/>
                          </a:solidFill>
                        </a:rPr>
                        <a:t>On-demand Manim animations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6B7A99"/>
                          </a:solidFill>
                        </a:rPr>
                        <a:t>status: PENDING → GENERATING → RENDERING → READY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Quiz · QuizAttempt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6B7A99"/>
                          </a:solidFill>
                        </a:rPr>
                        <a:t>AI-generated quiz and attempts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6B7A99"/>
                          </a:solidFill>
                        </a:rPr>
                        <a:t>20 MCQ questions; score computed server-side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PageSageAI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818120" y="48646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13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Course (AICourse)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uploaded by a teacher → 4 idempotent steps run on a daemon thread → students browse narrated pages and ask RAG questions.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783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65860" y="210312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22402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278892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05409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Per-page PNGs + JSON (ingest_pdf)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8296" y="2647188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24328" y="1920240"/>
            <a:ext cx="1783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241548" y="2103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708" y="22402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97480" y="278892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NARRATING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715768" y="305409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 text generated per page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2647188"/>
            <a:ext cx="237744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700016" y="1920240"/>
            <a:ext cx="1783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5317236" y="2103120"/>
            <a:ext cx="548640" cy="548640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4396" y="224028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773168" y="278892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4791456" y="305409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 audio files (Deepgram)</a:t>
            </a:r>
            <a:endParaRPr lang="en-US" sz="9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2647188"/>
            <a:ext cx="237744" cy="23774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775704" y="1920240"/>
            <a:ext cx="1783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6"/>
          <p:cNvSpPr/>
          <p:nvPr/>
        </p:nvSpPr>
        <p:spPr>
          <a:xfrm>
            <a:off x="7392924" y="210312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0084" y="2240280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848856" y="278892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6867144" y="305409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indexed into ChromaDB</a:t>
            </a:r>
            <a:endParaRPr lang="en-US" sz="950" dirty="0"/>
          </a:p>
        </p:txBody>
      </p:sp>
      <p:sp>
        <p:nvSpPr>
          <p:cNvPr id="32" name="Text 22"/>
          <p:cNvSpPr/>
          <p:nvPr/>
        </p:nvSpPr>
        <p:spPr>
          <a:xfrm>
            <a:off x="4572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PageSageAI</a:t>
            </a:r>
            <a:endParaRPr lang="en-US" sz="950" dirty="0"/>
          </a:p>
        </p:txBody>
      </p:sp>
      <p:sp>
        <p:nvSpPr>
          <p:cNvPr id="33" name="Text 23"/>
          <p:cNvSpPr/>
          <p:nvPr/>
        </p:nvSpPr>
        <p:spPr>
          <a:xfrm>
            <a:off x="7818120" y="48646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13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Animations (Manim)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student requests it, a daemon thread generates an explanatory Manim animation for a concept — with automatic retries on failure.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65860" y="2084832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222199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276148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GENERATING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1792" y="2999232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writes the Manim code (ConceptScene)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8296" y="2578608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24328" y="192024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241548" y="208483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708" y="222199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97480" y="276148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Write scene.py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2697480" y="2999232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media/animations/anim_{id}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2578608"/>
            <a:ext cx="237744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700016" y="192024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5317236" y="2084832"/>
            <a:ext cx="548640" cy="548640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4396" y="2221992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773168" y="276148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RENDERING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4773168" y="2999232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manim -ql, subprocess, 180s timeout</a:t>
            </a:r>
            <a:endParaRPr lang="en-US" sz="9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2578608"/>
            <a:ext cx="237744" cy="23774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775704" y="192024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6"/>
          <p:cNvSpPr/>
          <p:nvPr/>
        </p:nvSpPr>
        <p:spPr>
          <a:xfrm>
            <a:off x="7392924" y="2084832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0084" y="2221992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848856" y="276148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READY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6848856" y="2999232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.mp4 file found and saved</a:t>
            </a:r>
            <a:endParaRPr lang="en-US" sz="900" dirty="0"/>
          </a:p>
        </p:txBody>
      </p:sp>
      <p:sp>
        <p:nvSpPr>
          <p:cNvPr id="36" name="Text 25"/>
          <p:cNvSpPr/>
          <p:nvPr/>
        </p:nvSpPr>
        <p:spPr>
          <a:xfrm>
            <a:off x="4572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PageSageAI</a:t>
            </a:r>
            <a:endParaRPr lang="en-US" sz="950" dirty="0"/>
          </a:p>
        </p:txBody>
      </p:sp>
      <p:sp>
        <p:nvSpPr>
          <p:cNvPr id="37" name="Text 26"/>
          <p:cNvSpPr/>
          <p:nvPr/>
        </p:nvSpPr>
        <p:spPr>
          <a:xfrm>
            <a:off x="7818120" y="48646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AI-Generated Quiz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 triggers quiz generation for an AI course — Gemini produces questions based on existing narrations.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65860" y="2084832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222199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276148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text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1792" y="2999232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narrations, max 40,000 characters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8296" y="2578608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24328" y="192024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241548" y="208483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708" y="222199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97480" y="276148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Generation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2697480" y="2999232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gemini-2.5-flash → 20 MCQ questions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2578608"/>
            <a:ext cx="237744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700016" y="192024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5317236" y="2084832"/>
            <a:ext cx="548640" cy="548640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4396" y="2221992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773168" y="276148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4773168" y="2999232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options + valid correct_index</a:t>
            </a:r>
            <a:endParaRPr lang="en-US" sz="9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2578608"/>
            <a:ext cx="237744" cy="23774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775704" y="192024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6"/>
          <p:cNvSpPr/>
          <p:nvPr/>
        </p:nvSpPr>
        <p:spPr>
          <a:xfrm>
            <a:off x="7392924" y="2084832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0084" y="2221992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848856" y="276148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150" dirty="0"/>
          </a:p>
        </p:txBody>
      </p:sp>
      <p:sp>
        <p:nvSpPr>
          <p:cNvPr id="27" name="Text 18"/>
          <p:cNvSpPr/>
          <p:nvPr/>
        </p:nvSpPr>
        <p:spPr>
          <a:xfrm>
            <a:off x="6848856" y="2999232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Quiz.questions</a:t>
            </a:r>
            <a:endParaRPr lang="en-US" sz="900" dirty="0"/>
          </a:p>
        </p:txBody>
      </p:sp>
      <p:sp>
        <p:nvSpPr>
          <p:cNvPr id="28" name="Shape 19"/>
          <p:cNvSpPr/>
          <p:nvPr/>
        </p:nvSpPr>
        <p:spPr>
          <a:xfrm>
            <a:off x="548640" y="3886200"/>
            <a:ext cx="8092440" cy="777240"/>
          </a:xfrm>
          <a:prstGeom prst="roundRect">
            <a:avLst>
              <a:gd name="adj" fmla="val 9412"/>
            </a:avLst>
          </a:prstGeom>
          <a:solidFill>
            <a:srgbClr val="EA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0"/>
          <p:cNvSpPr/>
          <p:nvPr/>
        </p:nvSpPr>
        <p:spPr>
          <a:xfrm>
            <a:off x="749808" y="405079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" y="4142232"/>
            <a:ext cx="182880" cy="18288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280160" y="39776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is a OneToOneField to AICourse. Students submit answers via QuizAttempt — the score is computed server-side and visible to the teacher per student.</a:t>
            </a:r>
            <a:endParaRPr lang="en-US" sz="1100" dirty="0"/>
          </a:p>
        </p:txBody>
      </p:sp>
      <p:sp>
        <p:nvSpPr>
          <p:cNvPr id="32" name="Text 22"/>
          <p:cNvSpPr/>
          <p:nvPr/>
        </p:nvSpPr>
        <p:spPr>
          <a:xfrm>
            <a:off x="4572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PageSageAI</a:t>
            </a:r>
            <a:endParaRPr lang="en-US" sz="950" dirty="0"/>
          </a:p>
        </p:txBody>
      </p:sp>
      <p:sp>
        <p:nvSpPr>
          <p:cNvPr id="33" name="Text 23"/>
          <p:cNvSpPr/>
          <p:nvPr/>
        </p:nvSpPr>
        <p:spPr>
          <a:xfrm>
            <a:off x="7818120" y="48646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React Interface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8862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65506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72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Space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77240" y="2194560"/>
            <a:ext cx="128016" cy="128016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51560" y="20848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Classes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2606040"/>
            <a:ext cx="128016" cy="128016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51560" y="24963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&amp; Calendar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7240" y="3017520"/>
            <a:ext cx="128016" cy="128016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51560" y="29077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Narrated AI lessons + RAG chat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" y="3429000"/>
            <a:ext cx="128016" cy="128016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51560" y="33192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library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77240" y="3840480"/>
            <a:ext cx="128016" cy="128016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51560" y="37307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&amp; results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54880" y="1325880"/>
            <a:ext cx="3886200" cy="3429000"/>
          </a:xfrm>
          <a:prstGeom prst="roundRect">
            <a:avLst>
              <a:gd name="adj" fmla="val 2133"/>
            </a:avLst>
          </a:prstGeom>
          <a:solidFill>
            <a:srgbClr val="16223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983480" y="1536192"/>
            <a:ext cx="457200" cy="457200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1655064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577840" y="1572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Space</a:t>
            </a:r>
            <a:endParaRPr lang="en-US" sz="1450" dirty="0"/>
          </a:p>
        </p:txBody>
      </p:sp>
      <p:sp>
        <p:nvSpPr>
          <p:cNvPr id="22" name="Shape 18"/>
          <p:cNvSpPr/>
          <p:nvPr/>
        </p:nvSpPr>
        <p:spPr>
          <a:xfrm>
            <a:off x="5029200" y="219456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303520" y="20848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students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029200" y="260604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5303520" y="24963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 → AI course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029200" y="301752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5303520" y="29077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generation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029200" y="34290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5303520" y="33192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Per-student results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5029200" y="384048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5303520" y="37307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Tabs: Lecture / Animations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4572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PageSageAI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7818120" y="48646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2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1C7293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3108960"/>
            <a:ext cx="3291840" cy="3291840"/>
          </a:xfrm>
          <a:prstGeom prst="ellipse">
            <a:avLst/>
          </a:prstGeom>
          <a:solidFill>
            <a:srgbClr val="EFA75B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EFA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&amp; Next Steps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1F2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2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3591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AI teaching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27614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 loop: read, narrate, watch, ask, test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10712" y="150876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1F2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639312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72" y="187452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9312" y="23591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learning, at scale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639312" y="27614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individual-tutoring quality for many students at once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72784" y="150876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1F2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501384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187452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01384" y="23591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made visual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501384" y="27614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Manim clips for any concept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548640" y="4572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C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4572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PageSageAI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7818120" y="48646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906</Words>
  <Application>Microsoft Office PowerPoint</Application>
  <PresentationFormat>Expunere pe ecran (16:9)</PresentationFormat>
  <Paragraphs>195</Paragraphs>
  <Slides>13</Slides>
  <Notes>13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PageSageAI — AI Educational Platform</dc:title>
  <dc:subject>PptxGenJS Presentation</dc:subject>
  <dc:creator>PageSageAI</dc:creator>
  <cp:lastModifiedBy>Gelu Babtan</cp:lastModifiedBy>
  <cp:revision>2</cp:revision>
  <dcterms:created xsi:type="dcterms:W3CDTF">2026-06-18T08:59:52Z</dcterms:created>
  <dcterms:modified xsi:type="dcterms:W3CDTF">2026-06-18T11:17:38Z</dcterms:modified>
</cp:coreProperties>
</file>